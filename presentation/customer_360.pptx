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64" r:id="rId5"/>
    <p:sldId id="260" r:id="rId6"/>
    <p:sldId id="259" r:id="rId7"/>
    <p:sldId id="261" r:id="rId8"/>
  </p:sldIdLst>
  <p:sldSz cx="9144000" cy="5143500" type="screen16x9"/>
  <p:notesSz cx="6858000" cy="9144000"/>
  <p:embeddedFontLst>
    <p:embeddedFont>
      <p:font typeface="Manrope SemiBold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6B6F60D8-2D58-AD83-15B5-6CD7D710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E4FBFF2F-6967-9B89-4633-344A226B74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C207326A-8B90-1C23-9D77-48C5DA19D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316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3235AC23-7A72-AD8F-C623-10ED09C51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698D1A76-E82F-B3FA-C000-B0D02D1EC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065FB788-EEC8-4462-EAD4-B42E19C15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349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32330" y="3843523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80000"/>
              </a:lnSpc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Individual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2310" y="4645364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Customer 360 &amp; Next Best Action Engine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32320" y="410808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80000"/>
              </a:lnSpc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lang="en-GB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Syed Rehan Syed </a:t>
            </a:r>
            <a:r>
              <a:rPr lang="en-GB" sz="1343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Hamedsaleem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32310" y="4395452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1</a:t>
            </a:r>
            <a:endParaRPr sz="1343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C2B6C5-5DD1-DD8B-DC19-A71058FD077B}"/>
              </a:ext>
            </a:extLst>
          </p:cNvPr>
          <p:cNvSpPr txBox="1"/>
          <p:nvPr/>
        </p:nvSpPr>
        <p:spPr>
          <a:xfrm>
            <a:off x="2072632" y="2823157"/>
            <a:ext cx="4622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 dirty="0">
                <a:solidFill>
                  <a:srgbClr val="29B5E8"/>
                </a:solidFill>
              </a:rPr>
              <a:t>Customer 360 </a:t>
            </a:r>
            <a:r>
              <a:rPr lang="en-US" sz="1800" b="0" dirty="0">
                <a:solidFill>
                  <a:srgbClr val="29B5E8"/>
                </a:solidFill>
              </a:rPr>
              <a:t>and</a:t>
            </a:r>
            <a:r>
              <a:rPr sz="1800" b="0" dirty="0">
                <a:solidFill>
                  <a:srgbClr val="29B5E8"/>
                </a:solidFill>
              </a:rPr>
              <a:t> Next Best Action Engine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2A9AE-1949-1CC5-E127-9C9BF86715E4}"/>
              </a:ext>
            </a:extLst>
          </p:cNvPr>
          <p:cNvSpPr txBox="1"/>
          <p:nvPr/>
        </p:nvSpPr>
        <p:spPr>
          <a:xfrm>
            <a:off x="2198820" y="3126465"/>
            <a:ext cx="4370257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dirty="0">
                <a:solidFill>
                  <a:schemeClr val="tx1"/>
                </a:solidFill>
              </a:rPr>
              <a:t>Built entirely with Snowflake </a:t>
            </a:r>
            <a:r>
              <a:rPr sz="1400" b="0" dirty="0" err="1">
                <a:solidFill>
                  <a:schemeClr val="tx1"/>
                </a:solidFill>
              </a:rPr>
              <a:t>CoCo</a:t>
            </a:r>
            <a:r>
              <a:rPr sz="1400" b="0" dirty="0">
                <a:solidFill>
                  <a:schemeClr val="tx1"/>
                </a:solidFill>
              </a:rPr>
              <a:t> CLI</a:t>
            </a:r>
          </a:p>
          <a:p>
            <a:pPr algn="ctr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Snowflake  |  Cortex AI  |  </a:t>
            </a:r>
            <a:r>
              <a:rPr sz="1200" b="0" dirty="0" err="1">
                <a:solidFill>
                  <a:schemeClr val="tx1"/>
                </a:solidFill>
              </a:rPr>
              <a:t>Streamlit</a:t>
            </a:r>
            <a:r>
              <a:rPr sz="1200" b="0" dirty="0">
                <a:solidFill>
                  <a:schemeClr val="tx1"/>
                </a:solidFill>
              </a:rPr>
              <a:t>  |  Snowpark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495947"/>
            <a:ext cx="8485800" cy="451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5000"/>
              </a:lnSpc>
              <a:buSzPct val="55000"/>
            </a:pPr>
            <a:endParaRPr lang="en-GB" sz="100" b="1" dirty="0">
              <a:solidFill>
                <a:srgbClr val="29B5E8"/>
              </a:solidFill>
            </a:endParaRPr>
          </a:p>
          <a:p>
            <a:pPr>
              <a:lnSpc>
                <a:spcPct val="115000"/>
              </a:lnSpc>
              <a:buSzPct val="55000"/>
            </a:pPr>
            <a:r>
              <a:rPr lang="en-GB" sz="1800" b="1" dirty="0">
                <a:solidFill>
                  <a:srgbClr val="29B5E8"/>
                </a:solidFill>
              </a:rPr>
              <a:t>Problem Brief</a:t>
            </a:r>
          </a:p>
          <a:p>
            <a:pPr>
              <a:lnSpc>
                <a:spcPct val="115000"/>
              </a:lnSpc>
              <a:buSzPct val="55000"/>
            </a:pPr>
            <a:r>
              <a:rPr lang="en-GB" sz="1000" b="1" dirty="0">
                <a:solidFill>
                  <a:srgbClr val="FFFFFF"/>
                </a:solidFill>
              </a:rPr>
              <a:t>. Problem Brief</a:t>
            </a:r>
          </a:p>
          <a:p>
            <a:pPr algn="l">
              <a:spcAft>
                <a:spcPts val="400"/>
              </a:spcAft>
            </a:pPr>
            <a:r>
              <a:rPr b="1" dirty="0">
                <a:solidFill>
                  <a:schemeClr val="tx1"/>
                </a:solidFill>
              </a:rPr>
              <a:t>Business Problem: </a:t>
            </a:r>
            <a:endParaRPr lang="en-US" b="1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Companies struggle to unify scattered customer data (purchases, interactions, complaints) into a single actionable view. Support and sales teams lack real-time visibility into customer health, leading to missed retention opportunities.</a:t>
            </a:r>
            <a:endParaRPr lang="en-US"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endParaRPr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b="1" dirty="0">
                <a:solidFill>
                  <a:schemeClr val="tx1"/>
                </a:solidFill>
              </a:rPr>
              <a:t>Target User: </a:t>
            </a:r>
            <a:endParaRPr lang="en-US" b="1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Customer success managers, sales reps, and support agents who need instant, data-driven guidance on how to engage each customer.</a:t>
            </a:r>
            <a:endParaRPr lang="en-US"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endParaRPr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b="1" dirty="0">
                <a:solidFill>
                  <a:schemeClr val="tx1"/>
                </a:solidFill>
              </a:rPr>
              <a:t>Pain Point: </a:t>
            </a:r>
            <a:endParaRPr lang="en-US" b="1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Manual analysis across multiple systems is slow and error-prone. This app consolidates all customer signals into one dashboard with AI-generated next best actions and natural-language explanations.</a:t>
            </a:r>
          </a:p>
          <a:p>
            <a:pPr algn="l">
              <a:spcAft>
                <a:spcPts val="1000"/>
              </a:spcAft>
            </a:pPr>
            <a:r>
              <a:rPr sz="1200" b="0" dirty="0">
                <a:solidFill>
                  <a:schemeClr val="tx1"/>
                </a:solidFill>
              </a:rPr>
              <a:t>Domain: CRM / Customer Intelligence / Retail &amp;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B316E013-EB68-0525-3998-03FDFB2E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>
            <a:extLst>
              <a:ext uri="{FF2B5EF4-FFF2-40B4-BE49-F238E27FC236}">
                <a16:creationId xmlns:a16="http://schemas.microsoft.com/office/drawing/2014/main" id="{C84BB56A-E0A6-EC51-8594-A07B043B7B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084E376-1B04-094B-3A73-5CF3045B247A}"/>
              </a:ext>
            </a:extLst>
          </p:cNvPr>
          <p:cNvSpPr txBox="1"/>
          <p:nvPr/>
        </p:nvSpPr>
        <p:spPr>
          <a:xfrm>
            <a:off x="194484" y="600420"/>
            <a:ext cx="3726588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lnSpc>
                <a:spcPct val="115000"/>
              </a:lnSpc>
              <a:buSzPct val="55000"/>
              <a:buFont typeface="Arial"/>
              <a:buNone/>
            </a:pPr>
            <a:r>
              <a:rPr sz="1800" b="1" dirty="0">
                <a:solidFill>
                  <a:srgbClr val="29B5E8"/>
                </a:solidFill>
              </a:rPr>
              <a:t>Architecture </a:t>
            </a:r>
            <a:r>
              <a:rPr lang="en-US" sz="1800" b="1" dirty="0">
                <a:solidFill>
                  <a:srgbClr val="29B5E8"/>
                </a:solidFill>
              </a:rPr>
              <a:t>Diagram</a:t>
            </a:r>
            <a:endParaRPr sz="1800" b="1" dirty="0">
              <a:solidFill>
                <a:srgbClr val="29B5E8"/>
              </a:solidFill>
            </a:endParaRPr>
          </a:p>
          <a:p>
            <a:pPr algn="l">
              <a:spcAft>
                <a:spcPts val="400"/>
              </a:spcAft>
            </a:pPr>
            <a:endParaRPr lang="en-US" sz="11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chemeClr val="tx1"/>
                </a:solidFill>
              </a:rPr>
              <a:t>Data Sources: </a:t>
            </a:r>
            <a:r>
              <a:rPr sz="1200" b="0" dirty="0">
                <a:solidFill>
                  <a:schemeClr val="tx1"/>
                </a:solidFill>
              </a:rPr>
              <a:t>4 structured tables (Customers, Purchases, Interactions, Complaints) loaded into </a:t>
            </a:r>
            <a:r>
              <a:rPr sz="1200" b="1" dirty="0">
                <a:solidFill>
                  <a:schemeClr val="tx1"/>
                </a:solidFill>
              </a:rPr>
              <a:t>Snowflake</a:t>
            </a:r>
            <a:r>
              <a:rPr sz="1200" b="0" dirty="0">
                <a:solidFill>
                  <a:schemeClr val="tx1"/>
                </a:solidFill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dirty="0">
                <a:solidFill>
                  <a:schemeClr val="tx1"/>
                </a:solidFill>
              </a:rPr>
              <a:t>Processing:</a:t>
            </a:r>
            <a:r>
              <a:rPr sz="1200" b="0" dirty="0">
                <a:solidFill>
                  <a:schemeClr val="tx1"/>
                </a:solidFill>
              </a:rPr>
              <a:t> SQL aggregation builds </a:t>
            </a:r>
            <a:r>
              <a:rPr sz="1200" b="1" dirty="0">
                <a:solidFill>
                  <a:schemeClr val="tx1"/>
                </a:solidFill>
              </a:rPr>
              <a:t>CUSTOMER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sz="1200" b="1" dirty="0">
                <a:solidFill>
                  <a:schemeClr val="tx1"/>
                </a:solidFill>
              </a:rPr>
              <a:t>NBA</a:t>
            </a:r>
            <a:r>
              <a:rPr sz="1200" b="0" dirty="0">
                <a:solidFill>
                  <a:schemeClr val="tx1"/>
                </a:solidFill>
              </a:rPr>
              <a:t> (unified 360 view with risk scoring and next best action logic) and CUSTOMER_AI_CONTEXT.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chemeClr val="tx1"/>
                </a:solidFill>
              </a:rPr>
              <a:t>AI Layer:</a:t>
            </a:r>
            <a:r>
              <a:rPr sz="1200" b="0" dirty="0">
                <a:solidFill>
                  <a:schemeClr val="tx1"/>
                </a:solidFill>
              </a:rPr>
              <a:t> </a:t>
            </a:r>
            <a:r>
              <a:rPr sz="1200" b="1" dirty="0">
                <a:solidFill>
                  <a:schemeClr val="tx1"/>
                </a:solidFill>
              </a:rPr>
              <a:t>Snowflake Cortex AI </a:t>
            </a:r>
            <a:r>
              <a:rPr sz="1200" b="0" dirty="0">
                <a:solidFill>
                  <a:schemeClr val="tx1"/>
                </a:solidFill>
              </a:rPr>
              <a:t>(Llama 3.1-70B) generates on-demand natural-language explanations for each recommendation.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Frontend: </a:t>
            </a:r>
            <a:r>
              <a:rPr sz="1200" b="1" dirty="0" err="1">
                <a:solidFill>
                  <a:schemeClr val="tx1"/>
                </a:solidFill>
              </a:rPr>
              <a:t>Streamlit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sz="1200" b="0" dirty="0">
                <a:solidFill>
                  <a:schemeClr val="tx1"/>
                </a:solidFill>
              </a:rPr>
              <a:t>in</a:t>
            </a:r>
            <a:r>
              <a:rPr lang="en-US" sz="1200" b="0" dirty="0">
                <a:solidFill>
                  <a:schemeClr val="tx1"/>
                </a:solidFill>
              </a:rPr>
              <a:t> </a:t>
            </a:r>
            <a:r>
              <a:rPr sz="1200" b="0" dirty="0">
                <a:solidFill>
                  <a:schemeClr val="tx1"/>
                </a:solidFill>
              </a:rPr>
              <a:t>Snowflake app with interactive customer selector, metrics dashboard, risk badges, and AI explanation button.</a:t>
            </a:r>
            <a:endParaRPr lang="en-US"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endParaRPr sz="1200" b="0" dirty="0">
              <a:solidFill>
                <a:schemeClr val="tx1"/>
              </a:solidFill>
            </a:endParaRPr>
          </a:p>
          <a:p>
            <a:pPr algn="l">
              <a:spcAft>
                <a:spcPts val="1000"/>
              </a:spcAft>
            </a:pPr>
            <a:endParaRPr lang="en-US" sz="1200" b="1" dirty="0">
              <a:solidFill>
                <a:schemeClr val="tx1"/>
              </a:solidFill>
            </a:endParaRPr>
          </a:p>
          <a:p>
            <a:pPr algn="l">
              <a:spcAft>
                <a:spcPts val="1000"/>
              </a:spcAft>
            </a:pPr>
            <a:r>
              <a:rPr sz="1200" b="1" dirty="0" err="1">
                <a:solidFill>
                  <a:schemeClr val="tx1"/>
                </a:solidFill>
              </a:rPr>
              <a:t>CoCo</a:t>
            </a:r>
            <a:r>
              <a:rPr sz="1200" b="1" dirty="0">
                <a:solidFill>
                  <a:schemeClr val="tx1"/>
                </a:solidFill>
              </a:rPr>
              <a:t> CLI Skills Used: </a:t>
            </a:r>
            <a:r>
              <a:rPr sz="1200" b="0" dirty="0" err="1">
                <a:solidFill>
                  <a:schemeClr val="tx1"/>
                </a:solidFill>
              </a:rPr>
              <a:t>sql</a:t>
            </a:r>
            <a:r>
              <a:rPr sz="1200" b="0" dirty="0">
                <a:solidFill>
                  <a:schemeClr val="tx1"/>
                </a:solidFill>
              </a:rPr>
              <a:t>-author, </a:t>
            </a:r>
            <a:r>
              <a:rPr sz="1200" b="0" dirty="0" err="1">
                <a:solidFill>
                  <a:schemeClr val="tx1"/>
                </a:solidFill>
              </a:rPr>
              <a:t>streamlit</a:t>
            </a:r>
            <a:r>
              <a:rPr sz="1200" b="0" dirty="0">
                <a:solidFill>
                  <a:schemeClr val="tx1"/>
                </a:solidFill>
              </a:rPr>
              <a:t> (developing-with-</a:t>
            </a:r>
            <a:r>
              <a:rPr sz="1200" b="0" dirty="0" err="1">
                <a:solidFill>
                  <a:schemeClr val="tx1"/>
                </a:solidFill>
              </a:rPr>
              <a:t>streamlit</a:t>
            </a:r>
            <a:r>
              <a:rPr sz="1200" b="0" dirty="0">
                <a:solidFill>
                  <a:schemeClr val="tx1"/>
                </a:solidFill>
              </a:rPr>
              <a:t>-in-snowflake), Cortex AI functions, Snowpark Python</a:t>
            </a:r>
          </a:p>
        </p:txBody>
      </p:sp>
      <p:sp>
        <p:nvSpPr>
          <p:cNvPr id="65" name="Rounded Rectangle 71">
            <a:extLst>
              <a:ext uri="{FF2B5EF4-FFF2-40B4-BE49-F238E27FC236}">
                <a16:creationId xmlns:a16="http://schemas.microsoft.com/office/drawing/2014/main" id="{77A1A196-2D7D-F712-6A4A-3EBCC8D1D725}"/>
              </a:ext>
            </a:extLst>
          </p:cNvPr>
          <p:cNvSpPr/>
          <p:nvPr/>
        </p:nvSpPr>
        <p:spPr>
          <a:xfrm>
            <a:off x="3756099" y="914399"/>
            <a:ext cx="1094197" cy="699125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2036"/>
                </a:solidFill>
                <a:latin typeface="Aptos"/>
              </a:rPr>
              <a:t>CUSTOMERS
1,000 rows</a:t>
            </a:r>
          </a:p>
        </p:txBody>
      </p:sp>
      <p:cxnSp>
        <p:nvCxnSpPr>
          <p:cNvPr id="66" name="Connector 72">
            <a:extLst>
              <a:ext uri="{FF2B5EF4-FFF2-40B4-BE49-F238E27FC236}">
                <a16:creationId xmlns:a16="http://schemas.microsoft.com/office/drawing/2014/main" id="{6C54241D-2519-BF49-EDFB-E0B85C486257}"/>
              </a:ext>
            </a:extLst>
          </p:cNvPr>
          <p:cNvCxnSpPr>
            <a:cxnSpLocks/>
            <a:stCxn id="65" idx="2"/>
            <a:endCxn id="73" idx="0"/>
          </p:cNvCxnSpPr>
          <p:nvPr/>
        </p:nvCxnSpPr>
        <p:spPr>
          <a:xfrm>
            <a:off x="4303198" y="1613524"/>
            <a:ext cx="1173319" cy="600420"/>
          </a:xfrm>
          <a:prstGeom prst="line">
            <a:avLst/>
          </a:prstGeom>
          <a:ln w="2286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73">
            <a:extLst>
              <a:ext uri="{FF2B5EF4-FFF2-40B4-BE49-F238E27FC236}">
                <a16:creationId xmlns:a16="http://schemas.microsoft.com/office/drawing/2014/main" id="{0337ED4C-F886-FB6F-3BC0-7A027BD90241}"/>
              </a:ext>
            </a:extLst>
          </p:cNvPr>
          <p:cNvSpPr/>
          <p:nvPr/>
        </p:nvSpPr>
        <p:spPr>
          <a:xfrm>
            <a:off x="5068565" y="914399"/>
            <a:ext cx="1094198" cy="70667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rgbClr val="122036"/>
                </a:solidFill>
                <a:latin typeface="Aptos"/>
              </a:rPr>
              <a:t>PURCHASES
8,000 rows</a:t>
            </a:r>
          </a:p>
        </p:txBody>
      </p:sp>
      <p:cxnSp>
        <p:nvCxnSpPr>
          <p:cNvPr id="68" name="Connector 74">
            <a:extLst>
              <a:ext uri="{FF2B5EF4-FFF2-40B4-BE49-F238E27FC236}">
                <a16:creationId xmlns:a16="http://schemas.microsoft.com/office/drawing/2014/main" id="{3A8BC66E-466F-0C6A-1AA0-E1E5844B0483}"/>
              </a:ext>
            </a:extLst>
          </p:cNvPr>
          <p:cNvCxnSpPr>
            <a:cxnSpLocks/>
            <a:stCxn id="67" idx="2"/>
            <a:endCxn id="73" idx="0"/>
          </p:cNvCxnSpPr>
          <p:nvPr/>
        </p:nvCxnSpPr>
        <p:spPr>
          <a:xfrm flipH="1">
            <a:off x="5476517" y="1621077"/>
            <a:ext cx="139147" cy="592867"/>
          </a:xfrm>
          <a:prstGeom prst="line">
            <a:avLst/>
          </a:prstGeom>
          <a:ln w="2286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75">
            <a:extLst>
              <a:ext uri="{FF2B5EF4-FFF2-40B4-BE49-F238E27FC236}">
                <a16:creationId xmlns:a16="http://schemas.microsoft.com/office/drawing/2014/main" id="{8C9F884A-4213-407D-871A-17A6BEBF5C9A}"/>
              </a:ext>
            </a:extLst>
          </p:cNvPr>
          <p:cNvSpPr/>
          <p:nvPr/>
        </p:nvSpPr>
        <p:spPr>
          <a:xfrm>
            <a:off x="6381032" y="914400"/>
            <a:ext cx="1223033" cy="706677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2036"/>
                </a:solidFill>
                <a:latin typeface="Aptos"/>
              </a:rPr>
              <a:t>INTERACTIONS
4,000 rows</a:t>
            </a:r>
          </a:p>
        </p:txBody>
      </p:sp>
      <p:cxnSp>
        <p:nvCxnSpPr>
          <p:cNvPr id="70" name="Connector 76">
            <a:extLst>
              <a:ext uri="{FF2B5EF4-FFF2-40B4-BE49-F238E27FC236}">
                <a16:creationId xmlns:a16="http://schemas.microsoft.com/office/drawing/2014/main" id="{3CA7E183-EC5E-1D2E-5AE4-4363081DB61F}"/>
              </a:ext>
            </a:extLst>
          </p:cNvPr>
          <p:cNvCxnSpPr>
            <a:cxnSpLocks/>
            <a:stCxn id="69" idx="2"/>
            <a:endCxn id="73" idx="0"/>
          </p:cNvCxnSpPr>
          <p:nvPr/>
        </p:nvCxnSpPr>
        <p:spPr>
          <a:xfrm flipH="1">
            <a:off x="5476517" y="1621077"/>
            <a:ext cx="1516032" cy="592867"/>
          </a:xfrm>
          <a:prstGeom prst="line">
            <a:avLst/>
          </a:prstGeom>
          <a:ln w="2286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7">
            <a:extLst>
              <a:ext uri="{FF2B5EF4-FFF2-40B4-BE49-F238E27FC236}">
                <a16:creationId xmlns:a16="http://schemas.microsoft.com/office/drawing/2014/main" id="{C4859F22-CD65-005B-4251-DC40E268779E}"/>
              </a:ext>
            </a:extLst>
          </p:cNvPr>
          <p:cNvSpPr/>
          <p:nvPr/>
        </p:nvSpPr>
        <p:spPr>
          <a:xfrm>
            <a:off x="7798565" y="914399"/>
            <a:ext cx="1150952" cy="699123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2036"/>
                </a:solidFill>
                <a:latin typeface="Aptos"/>
              </a:rPr>
              <a:t>COMPLAINTS
1,000 rows</a:t>
            </a:r>
          </a:p>
        </p:txBody>
      </p:sp>
      <p:cxnSp>
        <p:nvCxnSpPr>
          <p:cNvPr id="72" name="Connector 78">
            <a:extLst>
              <a:ext uri="{FF2B5EF4-FFF2-40B4-BE49-F238E27FC236}">
                <a16:creationId xmlns:a16="http://schemas.microsoft.com/office/drawing/2014/main" id="{CFCD7177-0E74-BB33-C207-BA7A1610CA54}"/>
              </a:ext>
            </a:extLst>
          </p:cNvPr>
          <p:cNvCxnSpPr>
            <a:cxnSpLocks/>
            <a:stCxn id="71" idx="2"/>
          </p:cNvCxnSpPr>
          <p:nvPr/>
        </p:nvCxnSpPr>
        <p:spPr>
          <a:xfrm flipH="1">
            <a:off x="5541889" y="1613522"/>
            <a:ext cx="2832152" cy="569664"/>
          </a:xfrm>
          <a:prstGeom prst="line">
            <a:avLst/>
          </a:prstGeom>
          <a:ln w="2286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9">
            <a:extLst>
              <a:ext uri="{FF2B5EF4-FFF2-40B4-BE49-F238E27FC236}">
                <a16:creationId xmlns:a16="http://schemas.microsoft.com/office/drawing/2014/main" id="{E02BB783-34C9-C849-DADB-23D71F2158F1}"/>
              </a:ext>
            </a:extLst>
          </p:cNvPr>
          <p:cNvSpPr/>
          <p:nvPr/>
        </p:nvSpPr>
        <p:spPr>
          <a:xfrm>
            <a:off x="4384207" y="2213944"/>
            <a:ext cx="2184619" cy="457200"/>
          </a:xfrm>
          <a:prstGeom prst="roundRect">
            <a:avLst/>
          </a:prstGeom>
          <a:solidFill>
            <a:srgbClr val="E7F2FC"/>
          </a:solidFill>
          <a:ln w="16510"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22036"/>
                </a:solidFill>
                <a:latin typeface="Aptos"/>
              </a:rPr>
              <a:t>Snowflake</a:t>
            </a:r>
            <a:endParaRPr sz="1200" b="1" dirty="0">
              <a:solidFill>
                <a:srgbClr val="122036"/>
              </a:solidFill>
              <a:latin typeface="Aptos"/>
            </a:endParaRPr>
          </a:p>
        </p:txBody>
      </p:sp>
      <p:cxnSp>
        <p:nvCxnSpPr>
          <p:cNvPr id="74" name="Connector 80">
            <a:extLst>
              <a:ext uri="{FF2B5EF4-FFF2-40B4-BE49-F238E27FC236}">
                <a16:creationId xmlns:a16="http://schemas.microsoft.com/office/drawing/2014/main" id="{CA7E082C-D2F2-0B03-BC7E-B44532673B82}"/>
              </a:ext>
            </a:extLst>
          </p:cNvPr>
          <p:cNvCxnSpPr>
            <a:cxnSpLocks/>
            <a:endCxn id="75" idx="0"/>
          </p:cNvCxnSpPr>
          <p:nvPr/>
        </p:nvCxnSpPr>
        <p:spPr>
          <a:xfrm flipH="1">
            <a:off x="5463061" y="2671144"/>
            <a:ext cx="4489" cy="391102"/>
          </a:xfrm>
          <a:prstGeom prst="line">
            <a:avLst/>
          </a:prstGeom>
          <a:ln w="2286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81">
            <a:extLst>
              <a:ext uri="{FF2B5EF4-FFF2-40B4-BE49-F238E27FC236}">
                <a16:creationId xmlns:a16="http://schemas.microsoft.com/office/drawing/2014/main" id="{449352F8-98F3-67E5-2934-337D89E06055}"/>
              </a:ext>
            </a:extLst>
          </p:cNvPr>
          <p:cNvSpPr/>
          <p:nvPr/>
        </p:nvSpPr>
        <p:spPr>
          <a:xfrm>
            <a:off x="4357295" y="3062246"/>
            <a:ext cx="2211532" cy="475094"/>
          </a:xfrm>
          <a:prstGeom prst="roundRect">
            <a:avLst/>
          </a:prstGeom>
          <a:solidFill>
            <a:srgbClr val="EBF8F1"/>
          </a:solidFill>
          <a:ln w="16510">
            <a:solidFill>
              <a:srgbClr val="2F9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122036"/>
                </a:solidFill>
                <a:latin typeface="Aptos"/>
              </a:rPr>
              <a:t>Customer NBA</a:t>
            </a:r>
          </a:p>
        </p:txBody>
      </p:sp>
      <p:cxnSp>
        <p:nvCxnSpPr>
          <p:cNvPr id="76" name="Connector 82">
            <a:extLst>
              <a:ext uri="{FF2B5EF4-FFF2-40B4-BE49-F238E27FC236}">
                <a16:creationId xmlns:a16="http://schemas.microsoft.com/office/drawing/2014/main" id="{3316AE41-21AA-295F-A95E-2BF2B4496DDA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6571012" y="3299587"/>
            <a:ext cx="689104" cy="0"/>
          </a:xfrm>
          <a:prstGeom prst="line">
            <a:avLst/>
          </a:prstGeom>
          <a:ln w="2286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83">
            <a:extLst>
              <a:ext uri="{FF2B5EF4-FFF2-40B4-BE49-F238E27FC236}">
                <a16:creationId xmlns:a16="http://schemas.microsoft.com/office/drawing/2014/main" id="{1A7CC7CB-3739-DB82-7204-62D960CA640B}"/>
              </a:ext>
            </a:extLst>
          </p:cNvPr>
          <p:cNvSpPr/>
          <p:nvPr/>
        </p:nvSpPr>
        <p:spPr>
          <a:xfrm>
            <a:off x="7260116" y="2738525"/>
            <a:ext cx="1701401" cy="1122123"/>
          </a:xfrm>
          <a:prstGeom prst="roundRect">
            <a:avLst/>
          </a:prstGeom>
          <a:solidFill>
            <a:srgbClr val="EDF7FA"/>
          </a:solidFill>
          <a:ln w="16510">
            <a:solidFill>
              <a:srgbClr val="299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50" b="1" dirty="0">
                <a:solidFill>
                  <a:srgbClr val="122036"/>
                </a:solidFill>
                <a:latin typeface="Aptos"/>
              </a:rPr>
              <a:t>AI Layer: Snowflake </a:t>
            </a:r>
            <a:r>
              <a:rPr sz="1150" b="1" dirty="0">
                <a:solidFill>
                  <a:srgbClr val="122036"/>
                </a:solidFill>
                <a:latin typeface="Aptos"/>
              </a:rPr>
              <a:t>Cortex </a:t>
            </a:r>
            <a:endParaRPr lang="en-US" sz="1150" b="1" dirty="0">
              <a:solidFill>
                <a:srgbClr val="122036"/>
              </a:solidFill>
              <a:latin typeface="Aptos"/>
            </a:endParaRPr>
          </a:p>
          <a:p>
            <a:pPr algn="ctr"/>
            <a:r>
              <a:rPr sz="1150" b="1" dirty="0">
                <a:solidFill>
                  <a:srgbClr val="122036"/>
                </a:solidFill>
                <a:latin typeface="Aptos"/>
              </a:rPr>
              <a:t>AI</a:t>
            </a:r>
            <a:r>
              <a:rPr lang="en-US" sz="1150" b="1" dirty="0">
                <a:solidFill>
                  <a:srgbClr val="122036"/>
                </a:solidFill>
                <a:latin typeface="Aptos"/>
              </a:rPr>
              <a:t> </a:t>
            </a:r>
            <a:r>
              <a:rPr sz="1150" b="1" dirty="0">
                <a:solidFill>
                  <a:srgbClr val="122036"/>
                </a:solidFill>
                <a:latin typeface="Aptos"/>
              </a:rPr>
              <a:t>Explanation</a:t>
            </a:r>
          </a:p>
        </p:txBody>
      </p:sp>
      <p:cxnSp>
        <p:nvCxnSpPr>
          <p:cNvPr id="78" name="Connector 84">
            <a:extLst>
              <a:ext uri="{FF2B5EF4-FFF2-40B4-BE49-F238E27FC236}">
                <a16:creationId xmlns:a16="http://schemas.microsoft.com/office/drawing/2014/main" id="{1CFB299D-4E73-D75D-E2BD-7877C8D42300}"/>
              </a:ext>
            </a:extLst>
          </p:cNvPr>
          <p:cNvCxnSpPr>
            <a:cxnSpLocks/>
          </p:cNvCxnSpPr>
          <p:nvPr/>
        </p:nvCxnSpPr>
        <p:spPr>
          <a:xfrm flipH="1">
            <a:off x="5463061" y="3559880"/>
            <a:ext cx="479" cy="272980"/>
          </a:xfrm>
          <a:prstGeom prst="line">
            <a:avLst/>
          </a:prstGeom>
          <a:ln w="2286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85">
            <a:extLst>
              <a:ext uri="{FF2B5EF4-FFF2-40B4-BE49-F238E27FC236}">
                <a16:creationId xmlns:a16="http://schemas.microsoft.com/office/drawing/2014/main" id="{B3AA67B0-5F94-1FF9-7E4D-2C94A0266FAB}"/>
              </a:ext>
            </a:extLst>
          </p:cNvPr>
          <p:cNvSpPr/>
          <p:nvPr/>
        </p:nvSpPr>
        <p:spPr>
          <a:xfrm>
            <a:off x="4000500" y="3887677"/>
            <a:ext cx="2896886" cy="822960"/>
          </a:xfrm>
          <a:prstGeom prst="roundRect">
            <a:avLst/>
          </a:prstGeom>
          <a:solidFill>
            <a:srgbClr val="F7F4EB"/>
          </a:solidFill>
          <a:ln w="16510">
            <a:solidFill>
              <a:srgbClr val="DD9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 err="1">
                <a:solidFill>
                  <a:srgbClr val="122036"/>
                </a:solidFill>
                <a:latin typeface="Aptos"/>
              </a:rPr>
              <a:t>Streamlit</a:t>
            </a:r>
            <a:r>
              <a:rPr sz="1150" b="1" dirty="0">
                <a:solidFill>
                  <a:srgbClr val="122036"/>
                </a:solidFill>
                <a:latin typeface="Aptos"/>
              </a:rPr>
              <a:t> in Snowflake
Business-user UI</a:t>
            </a:r>
          </a:p>
        </p:txBody>
      </p:sp>
    </p:spTree>
    <p:extLst>
      <p:ext uri="{BB962C8B-B14F-4D97-AF65-F5344CB8AC3E}">
        <p14:creationId xmlns:p14="http://schemas.microsoft.com/office/powerpoint/2010/main" val="2148864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865D6285-9D20-C118-FF8A-86ADD9A0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>
            <a:extLst>
              <a:ext uri="{FF2B5EF4-FFF2-40B4-BE49-F238E27FC236}">
                <a16:creationId xmlns:a16="http://schemas.microsoft.com/office/drawing/2014/main" id="{A7AB8A1C-377F-3687-D759-3961C7CB64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D157B733-F4A7-E794-D36D-E43352AFACA7}"/>
              </a:ext>
            </a:extLst>
          </p:cNvPr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5000"/>
              </a:lnSpc>
              <a:buSzPct val="55000"/>
            </a:pPr>
            <a:endParaRPr lang="en-US" sz="100" b="1" dirty="0">
              <a:solidFill>
                <a:srgbClr val="29B5E8"/>
              </a:solidFill>
            </a:endParaRPr>
          </a:p>
          <a:p>
            <a:pPr>
              <a:lnSpc>
                <a:spcPct val="115000"/>
              </a:lnSpc>
              <a:buSzPct val="55000"/>
            </a:pPr>
            <a:r>
              <a:rPr sz="1800" b="1" dirty="0">
                <a:solidFill>
                  <a:srgbClr val="29B5E8"/>
                </a:solidFill>
              </a:rPr>
              <a:t>Impact Statement</a:t>
            </a:r>
            <a:endParaRPr lang="en-US" sz="1800" b="1" dirty="0">
              <a:solidFill>
                <a:srgbClr val="29B5E8"/>
              </a:solidFill>
            </a:endParaRPr>
          </a:p>
          <a:p>
            <a:pPr>
              <a:lnSpc>
                <a:spcPct val="115000"/>
              </a:lnSpc>
              <a:buSzPct val="55000"/>
            </a:pPr>
            <a:endParaRPr sz="1200" b="1" dirty="0">
              <a:solidFill>
                <a:srgbClr val="29B5E8"/>
              </a:solidFill>
            </a:endParaRPr>
          </a:p>
          <a:p>
            <a:pPr algn="l">
              <a:spcAft>
                <a:spcPts val="400"/>
              </a:spcAft>
            </a:pPr>
            <a:r>
              <a:rPr b="1" dirty="0">
                <a:solidFill>
                  <a:schemeClr val="tx1"/>
                </a:solidFill>
              </a:rPr>
              <a:t>Time Saved: </a:t>
            </a:r>
            <a:endParaRPr lang="en-US" b="1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Reduces customer analysis from 15-20 min of manual lookups to instant, one-click insights.</a:t>
            </a:r>
            <a:endParaRPr lang="en-US"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endParaRPr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b="1" dirty="0">
                <a:solidFill>
                  <a:schemeClr val="tx1"/>
                </a:solidFill>
              </a:rPr>
              <a:t>Accuracy: </a:t>
            </a:r>
            <a:endParaRPr lang="en-US" b="1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AI-driven risk scoring and next best action removes subjective guesswork from customer engagement.</a:t>
            </a:r>
            <a:endParaRPr lang="en-US"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endParaRPr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b="1" dirty="0">
                <a:solidFill>
                  <a:schemeClr val="tx1"/>
                </a:solidFill>
              </a:rPr>
              <a:t>Scalability: </a:t>
            </a:r>
            <a:endParaRPr lang="en-US" b="1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Handles 1,000+ customers today; scales to millions with Snowflake compute. Easily extendable to new data sources (web analytics, social, email).</a:t>
            </a:r>
            <a:endParaRPr lang="en-US"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endParaRPr sz="12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b="1" dirty="0">
                <a:solidFill>
                  <a:schemeClr val="tx1"/>
                </a:solidFill>
              </a:rPr>
              <a:t>Beyond Demo: </a:t>
            </a:r>
            <a:endParaRPr lang="en-US" b="1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chemeClr val="tx1"/>
                </a:solidFill>
              </a:rPr>
              <a:t>Can integrate with CRM systems, trigger automated outreach, and serve as the foundation for a full customer data platform.</a:t>
            </a:r>
          </a:p>
        </p:txBody>
      </p:sp>
    </p:spTree>
    <p:extLst>
      <p:ext uri="{BB962C8B-B14F-4D97-AF65-F5344CB8AC3E}">
        <p14:creationId xmlns:p14="http://schemas.microsoft.com/office/powerpoint/2010/main" val="559385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510411"/>
            <a:ext cx="8512200" cy="861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600" b="1" dirty="0">
                <a:solidFill>
                  <a:srgbClr val="29B5E8"/>
                </a:solidFill>
              </a:rPr>
              <a:t>App </a:t>
            </a:r>
            <a:r>
              <a:rPr lang="en-US" sz="1600" b="1" dirty="0">
                <a:solidFill>
                  <a:srgbClr val="29B5E8"/>
                </a:solidFill>
              </a:rPr>
              <a:t>Workflow and Demo</a:t>
            </a:r>
            <a:endParaRPr sz="1600" b="1" dirty="0">
              <a:solidFill>
                <a:srgbClr val="29B5E8"/>
              </a:solidFill>
            </a:endParaRPr>
          </a:p>
        </p:txBody>
      </p:sp>
      <p:sp>
        <p:nvSpPr>
          <p:cNvPr id="3" name="Google Shape;80;p17">
            <a:extLst>
              <a:ext uri="{FF2B5EF4-FFF2-40B4-BE49-F238E27FC236}">
                <a16:creationId xmlns:a16="http://schemas.microsoft.com/office/drawing/2014/main" id="{E5DA5E0A-BC8D-70AB-0E9B-839C3C2535F2}"/>
              </a:ext>
            </a:extLst>
          </p:cNvPr>
          <p:cNvSpPr txBox="1"/>
          <p:nvPr/>
        </p:nvSpPr>
        <p:spPr>
          <a:xfrm>
            <a:off x="315900" y="4442460"/>
            <a:ext cx="8512200" cy="564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chemeClr val="tx1"/>
                </a:solidFill>
              </a:rPr>
              <a:t>All source code, configuration, and sample data available in the repository.</a:t>
            </a:r>
            <a:endParaRPr lang="en-US" sz="1100" b="0" dirty="0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</a:pPr>
            <a:r>
              <a:rPr lang="en-IN" sz="1100" dirty="0">
                <a:solidFill>
                  <a:schemeClr val="tx1"/>
                </a:solidFill>
              </a:rPr>
              <a:t>GitHub Link: https://github.com/syedrhn0/Customer-360-and-Next-Best-Action-Engine</a:t>
            </a:r>
            <a:endParaRPr sz="1100" b="0" dirty="0">
              <a:solidFill>
                <a:schemeClr val="tx1"/>
              </a:solidFill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E70B27A8-F2AD-FF03-5D27-06ACADF6F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29" t="12578" r="3318" b="22577"/>
          <a:stretch>
            <a:fillRect/>
          </a:stretch>
        </p:blipFill>
        <p:spPr>
          <a:xfrm>
            <a:off x="376623" y="941005"/>
            <a:ext cx="8482060" cy="3364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548640" y="457200"/>
            <a:ext cx="8046720" cy="477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endParaRPr lang="en-GB" sz="100" b="1" dirty="0">
              <a:solidFill>
                <a:srgbClr val="FFFFFF"/>
              </a:solidFill>
            </a:endParaRPr>
          </a:p>
          <a:p>
            <a:pPr algn="l">
              <a:spcAft>
                <a:spcPts val="800"/>
              </a:spcAft>
            </a:pPr>
            <a:r>
              <a:rPr lang="en-GB" sz="1600" b="1" dirty="0">
                <a:solidFill>
                  <a:srgbClr val="29B5E8"/>
                </a:solidFill>
              </a:rPr>
              <a:t>Tech Stack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chemeClr val="tx1"/>
                </a:solidFill>
              </a:rPr>
              <a:t>Snowflake                        Data warehouse, compute, and storage</a:t>
            </a:r>
          </a:p>
          <a:p>
            <a:pPr algn="l">
              <a:spcAft>
                <a:spcPts val="300"/>
              </a:spcAft>
            </a:pPr>
            <a:r>
              <a:rPr sz="1100" b="0" dirty="0" err="1">
                <a:solidFill>
                  <a:schemeClr val="tx1"/>
                </a:solidFill>
              </a:rPr>
              <a:t>Streamlit</a:t>
            </a:r>
            <a:r>
              <a:rPr sz="1100" b="0" dirty="0">
                <a:solidFill>
                  <a:schemeClr val="tx1"/>
                </a:solidFill>
              </a:rPr>
              <a:t>-in-Snowflake    Interactive web application (deployed via snow CLI)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chemeClr val="tx1"/>
                </a:solidFill>
              </a:rPr>
              <a:t>Snowflake Cortex AI         LLM-powered explanations (Llama 3.1-70B)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chemeClr val="tx1"/>
                </a:solidFill>
              </a:rPr>
              <a:t>Snowpark Python              Server-side data access within </a:t>
            </a:r>
            <a:r>
              <a:rPr sz="1100" b="0" dirty="0" err="1">
                <a:solidFill>
                  <a:schemeClr val="tx1"/>
                </a:solidFill>
              </a:rPr>
              <a:t>Streamlit</a:t>
            </a:r>
            <a:endParaRPr sz="1100" b="0" dirty="0">
              <a:solidFill>
                <a:schemeClr val="tx1"/>
              </a:solidFill>
            </a:endParaRPr>
          </a:p>
          <a:p>
            <a:pPr algn="l">
              <a:spcAft>
                <a:spcPts val="1400"/>
              </a:spcAft>
            </a:pPr>
            <a:r>
              <a:rPr sz="1100" b="0" dirty="0" err="1">
                <a:solidFill>
                  <a:schemeClr val="tx1"/>
                </a:solidFill>
              </a:rPr>
              <a:t>CoCo</a:t>
            </a:r>
            <a:r>
              <a:rPr sz="1100" b="0" dirty="0">
                <a:solidFill>
                  <a:schemeClr val="tx1"/>
                </a:solidFill>
              </a:rPr>
              <a:t> CLI                          Project scaffolding, SQL authoring, deployment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29B5E8"/>
                </a:solidFill>
              </a:rPr>
              <a:t>Key Features Built with </a:t>
            </a:r>
            <a:r>
              <a:rPr sz="1600" b="1" dirty="0" err="1">
                <a:solidFill>
                  <a:srgbClr val="29B5E8"/>
                </a:solidFill>
              </a:rPr>
              <a:t>CoCo</a:t>
            </a:r>
            <a:r>
              <a:rPr sz="1600" b="1" dirty="0">
                <a:solidFill>
                  <a:srgbClr val="29B5E8"/>
                </a:solidFill>
              </a:rPr>
              <a:t> CLI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chemeClr val="tx1"/>
                </a:solidFill>
              </a:rPr>
              <a:t>1.  Database &amp; table creation via </a:t>
            </a:r>
            <a:r>
              <a:rPr sz="1100" b="0" dirty="0" err="1">
                <a:solidFill>
                  <a:schemeClr val="tx1"/>
                </a:solidFill>
              </a:rPr>
              <a:t>sql</a:t>
            </a:r>
            <a:r>
              <a:rPr sz="1100" b="0" dirty="0">
                <a:solidFill>
                  <a:schemeClr val="tx1"/>
                </a:solidFill>
              </a:rPr>
              <a:t>-author skill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chemeClr val="tx1"/>
                </a:solidFill>
              </a:rPr>
              <a:t>2.  Synthetic data generation (1,000 customers, 8,000 purchases, 4,000 interactions, 1,000 complaints)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chemeClr val="tx1"/>
                </a:solidFill>
              </a:rPr>
              <a:t>3.  Customer 360 aggregation pipeline (CUSTOMER_NBA table)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chemeClr val="tx1"/>
                </a:solidFill>
              </a:rPr>
              <a:t>4.  AI context preparation for Cortex AI (CUSTOMER_AI_CONTEXT table)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chemeClr val="tx1"/>
                </a:solidFill>
              </a:rPr>
              <a:t>5.  </a:t>
            </a:r>
            <a:r>
              <a:rPr sz="1100" b="0" dirty="0" err="1">
                <a:solidFill>
                  <a:schemeClr val="tx1"/>
                </a:solidFill>
              </a:rPr>
              <a:t>Streamlit</a:t>
            </a:r>
            <a:r>
              <a:rPr sz="1100" b="0" dirty="0">
                <a:solidFill>
                  <a:schemeClr val="tx1"/>
                </a:solidFill>
              </a:rPr>
              <a:t> app development with real-time Cortex AI integration</a:t>
            </a:r>
          </a:p>
          <a:p>
            <a:pPr algn="l">
              <a:spcAft>
                <a:spcPts val="1400"/>
              </a:spcAft>
            </a:pPr>
            <a:r>
              <a:rPr sz="1100" b="0" dirty="0">
                <a:solidFill>
                  <a:schemeClr val="tx1"/>
                </a:solidFill>
              </a:rPr>
              <a:t>6.  One-command deployment to Snowflake (snow </a:t>
            </a:r>
            <a:r>
              <a:rPr sz="1100" b="0" dirty="0" err="1">
                <a:solidFill>
                  <a:schemeClr val="tx1"/>
                </a:solidFill>
              </a:rPr>
              <a:t>streamlit</a:t>
            </a:r>
            <a:r>
              <a:rPr sz="1100" b="0" dirty="0">
                <a:solidFill>
                  <a:schemeClr val="tx1"/>
                </a:solidFill>
              </a:rPr>
              <a:t> deploy)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29B5E8"/>
                </a:solidFill>
              </a:rPr>
              <a:t>Data Model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chemeClr val="tx1"/>
                </a:solidFill>
              </a:rPr>
              <a:t>CUSTOMERS         </a:t>
            </a:r>
            <a:r>
              <a:rPr sz="1000" b="0" dirty="0" err="1">
                <a:solidFill>
                  <a:schemeClr val="tx1"/>
                </a:solidFill>
              </a:rPr>
              <a:t>customer_id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customer_name</a:t>
            </a:r>
            <a:r>
              <a:rPr sz="1000" b="0" dirty="0">
                <a:solidFill>
                  <a:schemeClr val="tx1"/>
                </a:solidFill>
              </a:rPr>
              <a:t>, age, city, </a:t>
            </a:r>
            <a:r>
              <a:rPr sz="1000" b="0" dirty="0" err="1">
                <a:solidFill>
                  <a:schemeClr val="tx1"/>
                </a:solidFill>
              </a:rPr>
              <a:t>customer_since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customer_segment</a:t>
            </a:r>
            <a:endParaRPr sz="1000" b="0" dirty="0">
              <a:solidFill>
                <a:schemeClr val="tx1"/>
              </a:solidFill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chemeClr val="tx1"/>
                </a:solidFill>
              </a:rPr>
              <a:t>PURCHASES          </a:t>
            </a:r>
            <a:r>
              <a:rPr sz="1000" b="0" dirty="0" err="1">
                <a:solidFill>
                  <a:schemeClr val="tx1"/>
                </a:solidFill>
              </a:rPr>
              <a:t>purchase_id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customer_id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purchase_date</a:t>
            </a:r>
            <a:r>
              <a:rPr sz="1000" b="0" dirty="0">
                <a:solidFill>
                  <a:schemeClr val="tx1"/>
                </a:solidFill>
              </a:rPr>
              <a:t>, amount, </a:t>
            </a:r>
            <a:r>
              <a:rPr sz="1000" b="0" dirty="0" err="1">
                <a:solidFill>
                  <a:schemeClr val="tx1"/>
                </a:solidFill>
              </a:rPr>
              <a:t>product_category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payment_method</a:t>
            </a:r>
            <a:endParaRPr sz="1000" b="0" dirty="0">
              <a:solidFill>
                <a:schemeClr val="tx1"/>
              </a:solidFill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chemeClr val="tx1"/>
                </a:solidFill>
              </a:rPr>
              <a:t>INTERACTIONS     </a:t>
            </a:r>
            <a:r>
              <a:rPr sz="1000" b="0" dirty="0" err="1">
                <a:solidFill>
                  <a:schemeClr val="tx1"/>
                </a:solidFill>
              </a:rPr>
              <a:t>interaction_id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customer_id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interaction_date</a:t>
            </a:r>
            <a:r>
              <a:rPr sz="1000" b="0" dirty="0">
                <a:solidFill>
                  <a:schemeClr val="tx1"/>
                </a:solidFill>
              </a:rPr>
              <a:t>, channel, </a:t>
            </a:r>
            <a:r>
              <a:rPr sz="1000" b="0" dirty="0" err="1">
                <a:solidFill>
                  <a:schemeClr val="tx1"/>
                </a:solidFill>
              </a:rPr>
              <a:t>interaction_type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sentiment_score</a:t>
            </a:r>
            <a:endParaRPr sz="1000" b="0" dirty="0">
              <a:solidFill>
                <a:schemeClr val="tx1"/>
              </a:solidFill>
            </a:endParaRPr>
          </a:p>
          <a:p>
            <a:pPr algn="l">
              <a:spcAft>
                <a:spcPts val="400"/>
              </a:spcAft>
            </a:pPr>
            <a:r>
              <a:rPr sz="1000" b="0" dirty="0">
                <a:solidFill>
                  <a:schemeClr val="tx1"/>
                </a:solidFill>
              </a:rPr>
              <a:t>COMPLAINTS        </a:t>
            </a:r>
            <a:r>
              <a:rPr sz="1000" b="0" dirty="0" err="1">
                <a:solidFill>
                  <a:schemeClr val="tx1"/>
                </a:solidFill>
              </a:rPr>
              <a:t>complaint_id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customer_id</a:t>
            </a:r>
            <a:r>
              <a:rPr sz="1000" b="0" dirty="0">
                <a:solidFill>
                  <a:schemeClr val="tx1"/>
                </a:solidFill>
              </a:rPr>
              <a:t>, </a:t>
            </a:r>
            <a:r>
              <a:rPr sz="1000" b="0" dirty="0" err="1">
                <a:solidFill>
                  <a:schemeClr val="tx1"/>
                </a:solidFill>
              </a:rPr>
              <a:t>complaint_date</a:t>
            </a:r>
            <a:r>
              <a:rPr sz="1000" b="0" dirty="0">
                <a:solidFill>
                  <a:schemeClr val="tx1"/>
                </a:solidFill>
              </a:rPr>
              <a:t>, category, status, </a:t>
            </a:r>
            <a:r>
              <a:rPr sz="1000" b="0" dirty="0" err="1">
                <a:solidFill>
                  <a:schemeClr val="tx1"/>
                </a:solidFill>
              </a:rPr>
              <a:t>resolution_date</a:t>
            </a:r>
            <a:endParaRPr sz="10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629</Words>
  <Application>Microsoft Office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Manrope SemiBold</vt:lpstr>
      <vt:lpstr>Arial</vt:lpstr>
      <vt:lpstr>Aptos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Care</cp:lastModifiedBy>
  <cp:revision>5</cp:revision>
  <dcterms:modified xsi:type="dcterms:W3CDTF">2026-09-26T10:32:52Z</dcterms:modified>
</cp:coreProperties>
</file>